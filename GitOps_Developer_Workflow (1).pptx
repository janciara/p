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eda895f-8446-dcdc-c9bd-2368645a69db}">
          <p14:sldIdLst>
            <p14:sldId id="256"/>
            <p14:sldId id="257"/>
            <p14:sldId id="258"/>
            <p14:sldId id="259"/>
            <p14:sldId id="260"/>
          </p14:sldIdLst>
        </p14:section>
        <p14:section name="Scenarios" id="{7b6592a2-3f7b-756a-07b9-ba575f31f020}">
          <p14:sldIdLst>
            <p14:sldId id="261"/>
            <p14:sldId id="262"/>
            <p14:sldId id="263"/>
            <p14:sldId id="264"/>
            <p14:sldId id="265"/>
          </p14:sldIdLst>
        </p14:section>
        <p14:section name="Wrap-up" id="{2c7ec8ec-53e3-045e-2321-2acd26804820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intro: who you are, what this is.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CCT will onboard us to GitOps. Today I want to show how your daily work changes. There's no installation or cluster magic today. I'll show you what you'll be doing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CI is in good shape. What changes is only the last step: who pushes a change to an environment, and how. Today Jenkins does both: it builds and it deploys.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Jenkins still builds the images. But what runs on an environment is decided by a file in Git, and Argo CD makes sure the cluster matches it. Note the direction: Argo CD pulls from Git, nobody pushes into the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first draft, not the target design. It just shows where things would live. Plain YAML, placeholder values only. Optionally switch to Bitbucket for a moment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open the PR, show the one-line diff, merge. Say: Promotion is a one-line PR. Someone reviewed it, it's in the history, and Argo CD does the rest. After the merge, Argo CD would notice the change and sync environment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show slot.yaml in the PR. Say: Booking an environment becomes a file. You can see who has it, why, and until when. When the slot expires or the feature is released, removing the file returns aiplatform-a to the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open platform/services.yaml on main, switch to Blame, point at the workflow-manager r line (3.1.0) and open its PR. Say: 'What broke R this morning?' becomes a ten-second question in Git.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open the rollback PR (scenario/4-rollback) or use the Revert button on PR 3 if your Bitbucket has it, then merge. Say: A rollback is just another PR, with history and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only, no live part. Say: Manual fixes on the cluster stop being invisible. They either go into Git or they get reverted.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You'll open PRs to the config repo instead of running deploy jobs. Your code repos and Jenkins CI stay exactly as they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deliberately leaving these for later. Secrets stay where they are today; they never go into Git in plain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questions down and record them in LP-3818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GitOps developer workflow  ·  LP-3818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NARI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GitOps developer workflow  ·  LP-3818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GitOps: how our deploy workflow will change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Sample repo walkthrough  ·  LP-3818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72009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we're here</a:t>
            </a:r>
            <a:endParaRPr lang="en-US" sz="3200" dirty="0"/>
          </a:p>
        </p:txBody>
      </p:sp>
      <p:sp>
        <p:nvSpPr>
          <p:cNvPr id="3" name="why-card-1"/>
          <p:cNvSpPr/>
          <p:nvPr/>
        </p:nvSpPr>
        <p:spPr>
          <a:xfrm>
            <a:off x="45720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CCT onboarding is coming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We'll move our deployments to GitOps. This is a preview of what changes.</a:t>
            </a:r>
            <a:endParaRPr lang="en-US" sz="1400" dirty="0"/>
          </a:p>
        </p:txBody>
      </p:sp>
      <p:sp>
        <p:nvSpPr>
          <p:cNvPr id="8" name="why-card-2"/>
          <p:cNvSpPr/>
          <p:nvPr/>
        </p:nvSpPr>
        <p:spPr>
          <a:xfrm>
            <a:off x="329184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15087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Focus: your daily work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How you promote, roll back and find out what's running where.</a:t>
            </a:r>
            <a:endParaRPr lang="en-US" sz="1400" dirty="0"/>
          </a:p>
        </p:txBody>
      </p:sp>
      <p:sp>
        <p:nvSpPr>
          <p:cNvPr id="13" name="why-card-3"/>
          <p:cNvSpPr/>
          <p:nvPr/>
        </p:nvSpPr>
        <p:spPr>
          <a:xfrm>
            <a:off x="6126480" y="1234440"/>
            <a:ext cx="2560320" cy="310896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5087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0080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Git only today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No cluster and no Argo CD yet. Just a sample repo and the flow.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we deploy today</a:t>
            </a:r>
            <a:endParaRPr lang="en-US" sz="3200" dirty="0"/>
          </a:p>
        </p:txBody>
      </p:sp>
      <p:sp>
        <p:nvSpPr>
          <p:cNvPr id="3" name="today-0"/>
          <p:cNvSpPr/>
          <p:nvPr/>
        </p:nvSpPr>
        <p:spPr>
          <a:xfrm>
            <a:off x="457200" y="1325880"/>
            <a:ext cx="1645920" cy="1737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Developer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pushes code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76272" y="2194560"/>
            <a:ext cx="40233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today-1"/>
          <p:cNvSpPr/>
          <p:nvPr/>
        </p:nvSpPr>
        <p:spPr>
          <a:xfrm>
            <a:off x="2651760" y="1325880"/>
            <a:ext cx="1645920" cy="1737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0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459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Bitbucket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code repos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70832" y="2194560"/>
            <a:ext cx="40233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today-2"/>
          <p:cNvSpPr/>
          <p:nvPr/>
        </p:nvSpPr>
        <p:spPr>
          <a:xfrm>
            <a:off x="4846320" y="1325880"/>
            <a:ext cx="1645920" cy="173736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94960" y="1508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6459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Jenkins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93776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build · test · scan · image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565392" y="2194560"/>
            <a:ext cx="402336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oday-3"/>
          <p:cNvSpPr/>
          <p:nvPr/>
        </p:nvSpPr>
        <p:spPr>
          <a:xfrm>
            <a:off x="7040880" y="1325880"/>
            <a:ext cx="1645920" cy="17373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7589520" y="15087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64592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040880" y="21488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OpenShift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13232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 · e · aiplatform-b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67512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push</a:t>
            </a:r>
            <a:endParaRPr lang="en-US" sz="1100" dirty="0"/>
          </a:p>
        </p:txBody>
      </p:sp>
      <p:sp>
        <p:nvSpPr>
          <p:cNvPr id="27" name="today-caption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31520" y="3429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Jenkins builds the app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and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pushes the change to the cluster. CI is solid; only this last step changes.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GitOps in one picture</a:t>
            </a:r>
            <a:endParaRPr lang="en-US" sz="3200" dirty="0"/>
          </a:p>
        </p:txBody>
      </p:sp>
      <p:sp>
        <p:nvSpPr>
          <p:cNvPr id="3" name="flow-0"/>
          <p:cNvSpPr/>
          <p:nvPr/>
        </p:nvSpPr>
        <p:spPr>
          <a:xfrm>
            <a:off x="457200" y="1188720"/>
            <a:ext cx="1371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325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Developer</a:t>
            </a:r>
            <a:endParaRPr lang="en-US" sz="1500" dirty="0"/>
          </a:p>
        </p:txBody>
      </p:sp>
      <p:sp>
        <p:nvSpPr>
          <p:cNvPr id="7" name="flow-1"/>
          <p:cNvSpPr/>
          <p:nvPr/>
        </p:nvSpPr>
        <p:spPr>
          <a:xfrm>
            <a:off x="2171700" y="1188720"/>
            <a:ext cx="1371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8" name="Shape 5"/>
          <p:cNvSpPr/>
          <p:nvPr/>
        </p:nvSpPr>
        <p:spPr>
          <a:xfrm>
            <a:off x="2583180" y="1325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14630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717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Pull request</a:t>
            </a:r>
            <a:endParaRPr lang="en-US" sz="1500" dirty="0"/>
          </a:p>
        </p:txBody>
      </p:sp>
      <p:sp>
        <p:nvSpPr>
          <p:cNvPr id="11" name="flow-2"/>
          <p:cNvSpPr/>
          <p:nvPr/>
        </p:nvSpPr>
        <p:spPr>
          <a:xfrm>
            <a:off x="3886200" y="1188720"/>
            <a:ext cx="1371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4297680" y="13258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463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8862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Git</a:t>
            </a:r>
            <a:endParaRPr lang="en-US" sz="1500" dirty="0"/>
          </a:p>
        </p:txBody>
      </p:sp>
      <p:sp>
        <p:nvSpPr>
          <p:cNvPr id="15" name="flow-3"/>
          <p:cNvSpPr/>
          <p:nvPr/>
        </p:nvSpPr>
        <p:spPr>
          <a:xfrm>
            <a:off x="5600700" y="1188720"/>
            <a:ext cx="1371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16" name="Shape 11"/>
          <p:cNvSpPr/>
          <p:nvPr/>
        </p:nvSpPr>
        <p:spPr>
          <a:xfrm>
            <a:off x="601218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340" y="146304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007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Argo CD</a:t>
            </a:r>
            <a:endParaRPr lang="en-US" sz="1500" dirty="0"/>
          </a:p>
        </p:txBody>
      </p:sp>
      <p:sp>
        <p:nvSpPr>
          <p:cNvPr id="19" name="flow-4"/>
          <p:cNvSpPr/>
          <p:nvPr/>
        </p:nvSpPr>
        <p:spPr>
          <a:xfrm>
            <a:off x="7315200" y="1188720"/>
            <a:ext cx="13716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</p:sp>
      <p:sp>
        <p:nvSpPr>
          <p:cNvPr id="20" name="Shape 14"/>
          <p:cNvSpPr/>
          <p:nvPr/>
        </p:nvSpPr>
        <p:spPr>
          <a:xfrm>
            <a:off x="7726680" y="13258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46304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31520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OpenShift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1874520" y="1847088"/>
            <a:ext cx="256032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3584448" y="1847088"/>
            <a:ext cx="256032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5294376" y="1847088"/>
            <a:ext cx="25603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headEnd type="triangle"/>
          </a:ln>
        </p:spPr>
      </p:sp>
      <p:sp>
        <p:nvSpPr>
          <p:cNvPr id="26" name="Shape 19"/>
          <p:cNvSpPr/>
          <p:nvPr/>
        </p:nvSpPr>
        <p:spPr>
          <a:xfrm>
            <a:off x="7013448" y="1847088"/>
            <a:ext cx="256032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Text 20"/>
          <p:cNvSpPr txBox="1"/>
          <p:nvPr/>
        </p:nvSpPr>
        <p:spPr>
          <a:xfrm>
            <a:off x="5074920" y="2578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watches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784848" y="2578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applies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36042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5156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Git is the single source of truth for every environment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329184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6140" y="3360420"/>
            <a:ext cx="228600" cy="22860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388620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change is a pull request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6126480" y="32461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0780" y="3360420"/>
            <a:ext cx="228600" cy="2286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720840" y="3154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Argo CD keeps the cluster matching Git, continuously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sample repo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1622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16152"/>
            <a:ext cx="37490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aip-gitops-demo/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platform/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services.yaml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environments/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r/values.yaml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e/values.yaml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aiplatform-b/values.yaml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feature-slots/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aiplatform-a/slot.yaml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file-watcher/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workflow-manager/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genai-execution-service/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file-sender/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143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platform/services.yaml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4447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version runs on which environment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892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environments/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Per-environment settings: r, e, aiplatform-b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642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feature-slots/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2944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Temporary bookings of aiplatform-a for a feature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3924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36941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deployment template per service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4206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First draft, not the target design. Input for LP-3551.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38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Promote r → 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19659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438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LIVE IN BITBUCKET</a:t>
            </a:r>
            <a:endParaRPr lang="en-US" sz="1100" dirty="0"/>
          </a:p>
        </p:txBody>
      </p:sp>
      <p:sp>
        <p:nvSpPr>
          <p:cNvPr id="7" name="today-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74470"/>
            <a:ext cx="205740" cy="2057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6596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Run the Jenkins deploy job with the right version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record of what was promoted lives in Jenkins build logs</a:t>
            </a:r>
            <a:endParaRPr lang="en-US" sz="1500" dirty="0"/>
          </a:p>
        </p:txBody>
      </p:sp>
      <p:sp>
        <p:nvSpPr>
          <p:cNvPr id="12" name="gitops-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74470"/>
            <a:ext cx="205740" cy="2057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321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With GitOps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1920240"/>
            <a:ext cx="3520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 changes one line in services.yaml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→ merge → Argo CD syncs 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3310128"/>
            <a:ext cx="3566160" cy="1033272"/>
          </a:xfrm>
          <a:prstGeom prst="roundRect">
            <a:avLst>
              <a:gd name="adj" fmla="val 5310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74920" y="3383280"/>
            <a:ext cx="3291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genai-execution-service: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r: 1.5.0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e: 1.4.2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e: 1.5.0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38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Feature slot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19659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438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LIVE IN BITBUCKET</a:t>
            </a:r>
            <a:endParaRPr lang="en-US" sz="1100" dirty="0"/>
          </a:p>
        </p:txBody>
      </p:sp>
      <p:sp>
        <p:nvSpPr>
          <p:cNvPr id="7" name="today-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74470"/>
            <a:ext cx="205740" cy="2057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6596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Ask around who is using aiplatform-a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Deploy three services by hand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Remember to clean up afterwards</a:t>
            </a:r>
            <a:endParaRPr lang="en-US" sz="1500" dirty="0"/>
          </a:p>
        </p:txBody>
      </p:sp>
      <p:sp>
        <p:nvSpPr>
          <p:cNvPr id="12" name="gitops-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74470"/>
            <a:ext cx="205740" cy="2057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321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With GitOps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1920240"/>
            <a:ext cx="35204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 adds slot.yaml: Jira item, versions, expiry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Back to baseline when it expires or is released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2907792"/>
            <a:ext cx="3566160" cy="1435608"/>
          </a:xfrm>
          <a:prstGeom prst="roundRect">
            <a:avLst>
              <a:gd name="adj" fmla="val 3822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74920" y="2980944"/>
            <a:ext cx="329184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jira: LAB-123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expires: 2026-11-15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file-watcher: 2.4.0-feat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workflow-manager: 3.2.0-feat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genai-execution-service: 1.6.0-feat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38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Who changed what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19659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438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LIVE IN BITBUCKET</a:t>
            </a:r>
            <a:endParaRPr lang="en-US" sz="1100" dirty="0"/>
          </a:p>
        </p:txBody>
      </p:sp>
      <p:sp>
        <p:nvSpPr>
          <p:cNvPr id="7" name="today-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74470"/>
            <a:ext cx="205740" cy="2057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6596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Dig through Jenkins build history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Ask on Teams who deployed what</a:t>
            </a:r>
            <a:endParaRPr lang="en-US" sz="1500" dirty="0"/>
          </a:p>
        </p:txBody>
      </p:sp>
      <p:sp>
        <p:nvSpPr>
          <p:cNvPr id="12" name="gitops-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74470"/>
            <a:ext cx="205740" cy="2057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321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With GitOps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1920240"/>
            <a:ext cx="35204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git log / git blame on services.yaml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line shows who, when and which PR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3310128"/>
            <a:ext cx="3566160" cy="1033272"/>
          </a:xfrm>
          <a:prstGeom prst="roundRect">
            <a:avLst>
              <a:gd name="adj" fmla="val 5310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74920" y="3383280"/>
            <a:ext cx="3291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services.yaml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a41c9e0 r: workflow-manager 3.1.0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7d02b6f r: workflow-manager 3.0.2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c19e5a3 r, e: file-sender 2.3.1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38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Rollback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196596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438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LIVE IN BITBUCKET</a:t>
            </a:r>
            <a:endParaRPr lang="en-US" sz="1100" dirty="0"/>
          </a:p>
        </p:txBody>
      </p:sp>
      <p:sp>
        <p:nvSpPr>
          <p:cNvPr id="7" name="today-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74470"/>
            <a:ext cx="205740" cy="2057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6596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Find the last good build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Re-run the deploy job with the old version</a:t>
            </a:r>
            <a:endParaRPr lang="en-US" sz="1500" dirty="0"/>
          </a:p>
        </p:txBody>
      </p:sp>
      <p:sp>
        <p:nvSpPr>
          <p:cNvPr id="12" name="gitops-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74470"/>
            <a:ext cx="205740" cy="2057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321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With GitOps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1920240"/>
            <a:ext cx="35204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Revert the bad PR found in scenario 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Argo CD restores the previous state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3511296"/>
            <a:ext cx="3566160" cy="832104"/>
          </a:xfrm>
          <a:prstGeom prst="roundRect">
            <a:avLst>
              <a:gd name="adj" fmla="val 6593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74920" y="35844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 "r: workflow-manager 3.1.0"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r: 3.1.0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r: 3.0.2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383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38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1097280" y="274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Manual change (drift)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720840" y="438912"/>
            <a:ext cx="196596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43891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chemeClr val="bg1"/>
                </a:solidFill>
              </a:rPr>
              <a:t>MOCK ONLY</a:t>
            </a:r>
            <a:endParaRPr lang="en-US" sz="1100" dirty="0"/>
          </a:p>
        </p:txBody>
      </p:sp>
      <p:sp>
        <p:nvSpPr>
          <p:cNvPr id="7" name="today-card"/>
          <p:cNvSpPr/>
          <p:nvPr/>
        </p:nvSpPr>
        <p:spPr>
          <a:xfrm>
            <a:off x="45720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3716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74470"/>
            <a:ext cx="205740" cy="2057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Today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1965960"/>
            <a:ext cx="3520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Someone runs oc edit or oc scale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Nobody else knows about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next deploy may or may not overwrite it</a:t>
            </a:r>
            <a:endParaRPr lang="en-US" sz="1500" dirty="0"/>
          </a:p>
        </p:txBody>
      </p:sp>
      <p:sp>
        <p:nvSpPr>
          <p:cNvPr id="12" name="gitops-card"/>
          <p:cNvSpPr/>
          <p:nvPr/>
        </p:nvSpPr>
        <p:spPr>
          <a:xfrm>
            <a:off x="475488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8348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74470"/>
            <a:ext cx="205740" cy="2057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321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With GitOps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983480" y="1920240"/>
            <a:ext cx="35204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Argo CD compares the cluster with Git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Marks it OutOfSync, then reverts it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937760" y="3511296"/>
            <a:ext cx="3566160" cy="832104"/>
          </a:xfrm>
          <a:prstGeom prst="roundRect">
            <a:avLst>
              <a:gd name="adj" fmla="val 6593"/>
            </a:avLst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074920" y="358444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     replicas: 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  replicas: 5  (manual)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Argo CD: OutOfSync → back to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changes for you</a:t>
            </a:r>
            <a:endParaRPr lang="en-US" sz="3200" dirty="0"/>
          </a:p>
        </p:txBody>
      </p:sp>
      <p:sp>
        <p:nvSpPr>
          <p:cNvPr id="3" name="changes-0"/>
          <p:cNvSpPr/>
          <p:nvPr/>
        </p:nvSpPr>
        <p:spPr>
          <a:xfrm>
            <a:off x="45720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You'll do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 PRs to the config repo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environment changes</a:t>
            </a:r>
            <a:endParaRPr lang="en-US" sz="1400" dirty="0"/>
          </a:p>
        </p:txBody>
      </p:sp>
      <p:sp>
        <p:nvSpPr>
          <p:cNvPr id="8" name="changes-1"/>
          <p:cNvSpPr/>
          <p:nvPr/>
        </p:nvSpPr>
        <p:spPr>
          <a:xfrm>
            <a:off x="329184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6616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5196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You'll stop doing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Running deploy jobs by hand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Editing things on the cluster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Asking "what's on R?"</a:t>
            </a:r>
            <a:endParaRPr lang="en-US" sz="1400" dirty="0"/>
          </a:p>
        </p:txBody>
      </p:sp>
      <p:sp>
        <p:nvSpPr>
          <p:cNvPr id="13" name="changes-2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1B243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4173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554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86600" y="1417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Stays the same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Your code repos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Jenkins CI: build, tests, scans, images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Open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Deliberately outside GitOps for now</a:t>
            </a:r>
            <a:endParaRPr lang="en-US" sz="1600" dirty="0"/>
          </a:p>
        </p:txBody>
      </p:sp>
      <p:sp>
        <p:nvSpPr>
          <p:cNvPr id="4" name="oq-0"/>
          <p:cNvSpPr/>
          <p:nvPr/>
        </p:nvSpPr>
        <p:spPr>
          <a:xfrm>
            <a:off x="457200" y="160020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345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Secrets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154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Handled as today. Never in Git in plain text.</a:t>
            </a:r>
            <a:endParaRPr lang="en-US" sz="1400" dirty="0"/>
          </a:p>
        </p:txBody>
      </p:sp>
      <p:sp>
        <p:nvSpPr>
          <p:cNvPr id="9" name="oq-1"/>
          <p:cNvSpPr/>
          <p:nvPr/>
        </p:nvSpPr>
        <p:spPr>
          <a:xfrm>
            <a:off x="3291840" y="160020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56616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20345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Kafka topics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154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Created and managed as today.</a:t>
            </a:r>
            <a:endParaRPr lang="en-US" sz="1400" dirty="0"/>
          </a:p>
        </p:txBody>
      </p:sp>
      <p:sp>
        <p:nvSpPr>
          <p:cNvPr id="14" name="oq-2"/>
          <p:cNvSpPr/>
          <p:nvPr/>
        </p:nvSpPr>
        <p:spPr>
          <a:xfrm>
            <a:off x="6126480" y="1600200"/>
            <a:ext cx="2560320" cy="265176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345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DB migrations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0" y="31546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Run as today, outside the sync.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</a:rPr>
              <a:t>Questions?</a:t>
            </a: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Feedback and questions go into LP-3818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72009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tOps Walkthrough">
  <a:themeElements>
    <a:clrScheme name="GitOps Walkthrough">
      <a:dk1>
        <a:srgbClr val="1B2430"/>
      </a:dk1>
      <a:lt1>
        <a:srgbClr val="FFFFFF"/>
      </a:lt1>
      <a:dk2>
        <a:srgbClr val="16202C"/>
      </a:dk2>
      <a:lt2>
        <a:srgbClr val="F1F3F6"/>
      </a:lt2>
      <a:accent1>
        <a:srgbClr val="EF7B2D"/>
      </a:accent1>
      <a:accent2>
        <a:srgbClr val="1F9E89"/>
      </a:accent2>
      <a:accent3>
        <a:srgbClr val="6B7685"/>
      </a:accent3>
      <a:accent4>
        <a:srgbClr val="3D5A80"/>
      </a:accent4>
      <a:accent5>
        <a:srgbClr val="E9C46A"/>
      </a:accent5>
      <a:accent6>
        <a:srgbClr val="C0392B"/>
      </a:accent6>
      <a:hlink>
        <a:srgbClr val="1F9E89"/>
      </a:hlink>
      <a:folHlink>
        <a:srgbClr val="6B7685"/>
      </a:folHlink>
    </a:clrScheme>
    <a:fontScheme name="GitOps Walkthroug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GitOps: how our deploy workflow will change</dc:title>
  <dc:subject>PptxGenJS Presentation</dc:subject>
  <dc:creator>PptxGenJS</dc:creator>
  <cp:lastModifiedBy>PptxGenJS</cp:lastModifiedBy>
  <cp:revision>1</cp:revision>
  <dcterms:created xsi:type="dcterms:W3CDTF">2026-10-20T06:59:25Z</dcterms:created>
  <dcterms:modified xsi:type="dcterms:W3CDTF">2026-10-20T06:59:25Z</dcterms:modified>
</cp:coreProperties>
</file>